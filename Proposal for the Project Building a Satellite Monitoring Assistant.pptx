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7"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0C2E3DA-ECEC-4531-9339-C7EC20BB7DCE}" type="datetimeFigureOut">
              <a:rPr lang="en-US" smtClean="0"/>
              <a:t>11/21/2025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F63D925C-6D19-48F6-958B-CE241415AAD3}"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727428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C2E3DA-ECEC-4531-9339-C7EC20BB7DCE}"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3D925C-6D19-48F6-958B-CE241415AAD3}"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00190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C2E3DA-ECEC-4531-9339-C7EC20BB7DCE}"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3D925C-6D19-48F6-958B-CE241415AAD3}"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24002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0C2E3DA-ECEC-4531-9339-C7EC20BB7DCE}" type="datetimeFigureOut">
              <a:rPr lang="en-US" smtClean="0"/>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3D925C-6D19-48F6-958B-CE241415AAD3}"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44987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C2E3DA-ECEC-4531-9339-C7EC20BB7DCE}" type="datetimeFigureOut">
              <a:rPr lang="en-US" smtClean="0"/>
              <a:t>11/21/2025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3D925C-6D19-48F6-958B-CE241415AAD3}"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97807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C2E3DA-ECEC-4531-9339-C7EC20BB7DCE}" type="datetimeFigureOut">
              <a:rPr lang="en-US" smtClean="0"/>
              <a:t>11/21/2025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3D925C-6D19-48F6-958B-CE241415AAD3}"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10210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C2E3DA-ECEC-4531-9339-C7EC20BB7DCE}" type="datetimeFigureOut">
              <a:rPr lang="en-US" smtClean="0"/>
              <a:t>11/21/2025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3D925C-6D19-48F6-958B-CE241415AAD3}" type="slidenum">
              <a:rPr lang="en-US" smtClean="0"/>
              <a:t>‹#›</a:t>
            </a:fld>
            <a:endParaRPr lang="en-US"/>
          </a:p>
        </p:txBody>
      </p:sp>
    </p:spTree>
    <p:extLst>
      <p:ext uri="{BB962C8B-B14F-4D97-AF65-F5344CB8AC3E}">
        <p14:creationId xmlns:p14="http://schemas.microsoft.com/office/powerpoint/2010/main" val="28187260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0C2E3DA-ECEC-4531-9339-C7EC20BB7DCE}" type="datetimeFigureOut">
              <a:rPr lang="en-US" smtClean="0"/>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3D925C-6D19-48F6-958B-CE241415AAD3}"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02365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A0C2E3DA-ECEC-4531-9339-C7EC20BB7DCE}" type="datetimeFigureOut">
              <a:rPr lang="en-US" smtClean="0"/>
              <a:t>11/21/2025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F63D925C-6D19-48F6-958B-CE241415AAD3}"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61232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C2E3DA-ECEC-4531-9339-C7EC20BB7DCE}"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3D925C-6D19-48F6-958B-CE241415AAD3}"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01364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C2E3DA-ECEC-4531-9339-C7EC20BB7DCE}"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3D925C-6D19-48F6-958B-CE241415AAD3}"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95577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A0C2E3DA-ECEC-4531-9339-C7EC20BB7DCE}" type="datetimeFigureOut">
              <a:rPr lang="en-US" smtClean="0"/>
              <a:t>11/21/2025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F63D925C-6D19-48F6-958B-CE241415AAD3}"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88960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scihub.copernicus.eu/" TargetMode="External"/><Relationship Id="rId2" Type="http://schemas.openxmlformats.org/officeDocument/2006/relationships/hyperlink" Target="https://earthexplorer.usgs.gov/" TargetMode="External"/><Relationship Id="rId1" Type="http://schemas.openxmlformats.org/officeDocument/2006/relationships/slideLayout" Target="../slideLayouts/slideLayout2.xml"/><Relationship Id="rId6" Type="http://schemas.openxmlformats.org/officeDocument/2006/relationships/hyperlink" Target="https://bigearth.net/" TargetMode="External"/><Relationship Id="rId5" Type="http://schemas.openxmlformats.org/officeDocument/2006/relationships/hyperlink" Target="https://spacenet.ai/datasets/" TargetMode="External"/><Relationship Id="rId4" Type="http://schemas.openxmlformats.org/officeDocument/2006/relationships/hyperlink" Target="https://zenodo.org/record/7711810"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db.satnogs.org/" TargetMode="External"/><Relationship Id="rId2" Type="http://schemas.openxmlformats.org/officeDocument/2006/relationships/hyperlink" Target="https://c3.ndc.nasa.gov/dashlink/" TargetMode="External"/><Relationship Id="rId1" Type="http://schemas.openxmlformats.org/officeDocument/2006/relationships/slideLayout" Target="../slideLayouts/slideLayout2.xml"/><Relationship Id="rId4" Type="http://schemas.openxmlformats.org/officeDocument/2006/relationships/hyperlink" Target="https://github.com/numenta/NAB" TargetMode="External"/></Relationships>
</file>

<file path=ppt/slides/_rels/slide9.xml.rels><?xml version="1.0" encoding="UTF-8" standalone="yes"?>
<Relationships xmlns="http://schemas.openxmlformats.org/package/2006/relationships"><Relationship Id="rId2" Type="http://schemas.openxmlformats.org/officeDocument/2006/relationships/hyperlink" Target="https://www.kaggle.com/dataset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F5A15-CEF0-75AA-A0A3-CB444A377D12}"/>
              </a:ext>
            </a:extLst>
          </p:cNvPr>
          <p:cNvSpPr>
            <a:spLocks noGrp="1"/>
          </p:cNvSpPr>
          <p:nvPr>
            <p:ph type="ctrTitle"/>
          </p:nvPr>
        </p:nvSpPr>
        <p:spPr>
          <a:xfrm>
            <a:off x="891540" y="671208"/>
            <a:ext cx="10652760" cy="2541431"/>
          </a:xfrm>
        </p:spPr>
        <p:txBody>
          <a:bodyPr>
            <a:normAutofit fontScale="90000"/>
          </a:bodyPr>
          <a:lstStyle/>
          <a:p>
            <a:pPr algn="ctr"/>
            <a:r>
              <a:rPr lang="en-US" b="1" dirty="0">
                <a:solidFill>
                  <a:schemeClr val="accent1">
                    <a:lumMod val="75000"/>
                  </a:schemeClr>
                </a:solidFill>
              </a:rPr>
              <a:t>BUILDING A SATELLITTE MONITORING ASSISTANT</a:t>
            </a:r>
          </a:p>
        </p:txBody>
      </p:sp>
      <p:sp>
        <p:nvSpPr>
          <p:cNvPr id="3" name="Subtitle 2">
            <a:extLst>
              <a:ext uri="{FF2B5EF4-FFF2-40B4-BE49-F238E27FC236}">
                <a16:creationId xmlns:a16="http://schemas.microsoft.com/office/drawing/2014/main" id="{257CE942-7E82-F6D4-19B0-12D9A0A03F6F}"/>
              </a:ext>
            </a:extLst>
          </p:cNvPr>
          <p:cNvSpPr>
            <a:spLocks noGrp="1"/>
          </p:cNvSpPr>
          <p:nvPr>
            <p:ph type="subTitle" idx="1"/>
          </p:nvPr>
        </p:nvSpPr>
        <p:spPr>
          <a:xfrm>
            <a:off x="2451834" y="3645362"/>
            <a:ext cx="8637072" cy="977621"/>
          </a:xfrm>
        </p:spPr>
        <p:txBody>
          <a:bodyPr>
            <a:normAutofit/>
          </a:bodyPr>
          <a:lstStyle/>
          <a:p>
            <a:pPr algn="ctr"/>
            <a:r>
              <a:rPr lang="en-US" sz="2800" dirty="0">
                <a:solidFill>
                  <a:schemeClr val="tx1">
                    <a:lumMod val="85000"/>
                    <a:lumOff val="15000"/>
                  </a:schemeClr>
                </a:solidFill>
              </a:rPr>
              <a:t>THE QUANTUM Vs Classical APPROACH</a:t>
            </a:r>
          </a:p>
        </p:txBody>
      </p:sp>
      <p:sp>
        <p:nvSpPr>
          <p:cNvPr id="4" name="TextBox 3">
            <a:extLst>
              <a:ext uri="{FF2B5EF4-FFF2-40B4-BE49-F238E27FC236}">
                <a16:creationId xmlns:a16="http://schemas.microsoft.com/office/drawing/2014/main" id="{7D4EC27E-9D0D-8EFA-69A7-EB0BD5EC5ABD}"/>
              </a:ext>
            </a:extLst>
          </p:cNvPr>
          <p:cNvSpPr txBox="1"/>
          <p:nvPr/>
        </p:nvSpPr>
        <p:spPr>
          <a:xfrm>
            <a:off x="6492240" y="4514850"/>
            <a:ext cx="4892040" cy="369332"/>
          </a:xfrm>
          <a:prstGeom prst="rect">
            <a:avLst/>
          </a:prstGeom>
          <a:noFill/>
          <a:ln>
            <a:solidFill>
              <a:schemeClr val="bg2"/>
            </a:solidFill>
          </a:ln>
        </p:spPr>
        <p:txBody>
          <a:bodyPr wrap="square" rtlCol="0">
            <a:spAutoFit/>
          </a:bodyPr>
          <a:lstStyle/>
          <a:p>
            <a:pPr algn="ctr"/>
            <a:r>
              <a:rPr lang="en-US" dirty="0">
                <a:solidFill>
                  <a:schemeClr val="bg2">
                    <a:lumMod val="25000"/>
                  </a:schemeClr>
                </a:solidFill>
              </a:rPr>
              <a:t>By BABALOLA-JACOBS OLUWASEGUN DAVID</a:t>
            </a:r>
          </a:p>
        </p:txBody>
      </p:sp>
    </p:spTree>
    <p:extLst>
      <p:ext uri="{BB962C8B-B14F-4D97-AF65-F5344CB8AC3E}">
        <p14:creationId xmlns:p14="http://schemas.microsoft.com/office/powerpoint/2010/main" val="1782609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276D5-6074-DB5D-B1F2-27824CF6D2F1}"/>
              </a:ext>
            </a:extLst>
          </p:cNvPr>
          <p:cNvSpPr>
            <a:spLocks noGrp="1"/>
          </p:cNvSpPr>
          <p:nvPr>
            <p:ph type="title"/>
          </p:nvPr>
        </p:nvSpPr>
        <p:spPr>
          <a:xfrm>
            <a:off x="0" y="2"/>
            <a:ext cx="12191999" cy="648928"/>
          </a:xfrm>
        </p:spPr>
        <p:txBody>
          <a:bodyPr/>
          <a:lstStyle/>
          <a:p>
            <a:pPr algn="ctr"/>
            <a:r>
              <a:rPr lang="en-US" b="1" dirty="0">
                <a:solidFill>
                  <a:schemeClr val="accent1">
                    <a:lumMod val="75000"/>
                  </a:schemeClr>
                </a:solidFill>
              </a:rPr>
              <a:t>METHODOLOGY</a:t>
            </a:r>
          </a:p>
        </p:txBody>
      </p:sp>
      <p:sp>
        <p:nvSpPr>
          <p:cNvPr id="3" name="Content Placeholder 2">
            <a:extLst>
              <a:ext uri="{FF2B5EF4-FFF2-40B4-BE49-F238E27FC236}">
                <a16:creationId xmlns:a16="http://schemas.microsoft.com/office/drawing/2014/main" id="{6CECAD98-3C33-7ADF-D8AF-CAD95B750CC9}"/>
              </a:ext>
            </a:extLst>
          </p:cNvPr>
          <p:cNvSpPr>
            <a:spLocks noGrp="1"/>
          </p:cNvSpPr>
          <p:nvPr>
            <p:ph idx="1"/>
          </p:nvPr>
        </p:nvSpPr>
        <p:spPr>
          <a:xfrm>
            <a:off x="1" y="648929"/>
            <a:ext cx="12192000" cy="5476569"/>
          </a:xfrm>
        </p:spPr>
        <p:txBody>
          <a:bodyPr>
            <a:normAutofit fontScale="92500" lnSpcReduction="20000"/>
          </a:bodyPr>
          <a:lstStyle/>
          <a:p>
            <a:pPr marL="457200" indent="-457200">
              <a:buFont typeface="+mj-lt"/>
              <a:buAutoNum type="arabicPeriod"/>
            </a:pPr>
            <a:r>
              <a:rPr lang="en-US" b="1" dirty="0"/>
              <a:t>Data Acquisition</a:t>
            </a:r>
            <a:br>
              <a:rPr lang="en-US" dirty="0"/>
            </a:br>
            <a:r>
              <a:rPr lang="en-US" dirty="0"/>
              <a:t>Real-world satellite imagery will be obtained from open-access repositories such as Landsat, Sentinel, and NASA EarthData. Telemetry datasets will be sourced from missions that publicly release spacecraft health data, including parameters like temperature, battery voltage, gyro readings, power levels, and communication metrics.</a:t>
            </a:r>
          </a:p>
          <a:p>
            <a:pPr marL="457200" indent="-457200">
              <a:buFont typeface="+mj-lt"/>
              <a:buAutoNum type="arabicPeriod"/>
            </a:pPr>
            <a:r>
              <a:rPr lang="en-US" b="1" dirty="0"/>
              <a:t>Data Preprocessing</a:t>
            </a:r>
            <a:br>
              <a:rPr lang="en-US" dirty="0"/>
            </a:br>
            <a:r>
              <a:rPr lang="en-US" dirty="0"/>
              <a:t>The imagery dataset will be cleaned, normalized, and resized for compatibility with both the QNN and CNN architectures. Telemetry data will be filtered, interpolated where necessary, and standardized into numerical feature vectors. Both datasets will be split into training, validation, and test sets to ensure unbiased evaluation.</a:t>
            </a:r>
          </a:p>
          <a:p>
            <a:pPr marL="457200" indent="-457200">
              <a:buFont typeface="+mj-lt"/>
              <a:buAutoNum type="arabicPeriod"/>
            </a:pPr>
            <a:r>
              <a:rPr lang="en-US" b="1" dirty="0"/>
              <a:t>Model Development</a:t>
            </a:r>
            <a:br>
              <a:rPr lang="en-US" dirty="0"/>
            </a:br>
            <a:r>
              <a:rPr lang="en-US" dirty="0"/>
              <a:t>Two parallel pipelines will be built:</a:t>
            </a:r>
          </a:p>
          <a:p>
            <a:pPr lvl="1"/>
            <a:r>
              <a:rPr lang="en-US" b="1" dirty="0"/>
              <a:t>Quantum-inspired models:</a:t>
            </a:r>
            <a:r>
              <a:rPr lang="en-US" dirty="0"/>
              <a:t> a Quantum Neural Network (QNN) for imagery classification and a Quantum Support Vector Machine (QSVM) for telemetry anomaly detection.</a:t>
            </a:r>
          </a:p>
          <a:p>
            <a:pPr lvl="1"/>
            <a:r>
              <a:rPr lang="en-US" b="1" dirty="0"/>
              <a:t>Classical models:</a:t>
            </a:r>
            <a:r>
              <a:rPr lang="en-US" dirty="0"/>
              <a:t> a Convolutional Neural Network (CNN) for imagery classification and a classical Support Vector Machine (SVM) for telemetry anomaly detection.</a:t>
            </a:r>
          </a:p>
          <a:p>
            <a:pPr marL="0" indent="0">
              <a:buNone/>
            </a:pPr>
            <a:r>
              <a:rPr lang="en-US" dirty="0"/>
              <a:t>The quantum models will be implemented using frameworks such as PennyLane or </a:t>
            </a:r>
            <a:r>
              <a:rPr lang="en-US" dirty="0" err="1"/>
              <a:t>Qiskit</a:t>
            </a:r>
            <a:r>
              <a:rPr lang="en-US" dirty="0"/>
              <a:t>, while the classical models will use PyTorch, TensorFlow, and scikit-learn.</a:t>
            </a:r>
          </a:p>
          <a:p>
            <a:pPr marL="457200" indent="-457200">
              <a:buFont typeface="+mj-lt"/>
              <a:buAutoNum type="arabicPeriod"/>
            </a:pPr>
            <a:endParaRPr lang="en-US" dirty="0"/>
          </a:p>
        </p:txBody>
      </p:sp>
    </p:spTree>
    <p:extLst>
      <p:ext uri="{BB962C8B-B14F-4D97-AF65-F5344CB8AC3E}">
        <p14:creationId xmlns:p14="http://schemas.microsoft.com/office/powerpoint/2010/main" val="4090658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765D5-859F-A577-6984-40F320FCF5C3}"/>
              </a:ext>
            </a:extLst>
          </p:cNvPr>
          <p:cNvSpPr>
            <a:spLocks noGrp="1"/>
          </p:cNvSpPr>
          <p:nvPr>
            <p:ph type="title"/>
          </p:nvPr>
        </p:nvSpPr>
        <p:spPr>
          <a:xfrm>
            <a:off x="0" y="0"/>
            <a:ext cx="12192000" cy="713875"/>
          </a:xfrm>
          <a:solidFill>
            <a:schemeClr val="bg2"/>
          </a:solidFill>
        </p:spPr>
        <p:txBody>
          <a:bodyPr/>
          <a:lstStyle/>
          <a:p>
            <a:pPr algn="ctr"/>
            <a:r>
              <a:rPr lang="en-US" b="1" dirty="0">
                <a:solidFill>
                  <a:schemeClr val="accent1">
                    <a:lumMod val="75000"/>
                  </a:schemeClr>
                </a:solidFill>
              </a:rPr>
              <a:t>PROJECT OVERVIEW</a:t>
            </a:r>
          </a:p>
        </p:txBody>
      </p:sp>
      <p:sp>
        <p:nvSpPr>
          <p:cNvPr id="3" name="Content Placeholder 2">
            <a:extLst>
              <a:ext uri="{FF2B5EF4-FFF2-40B4-BE49-F238E27FC236}">
                <a16:creationId xmlns:a16="http://schemas.microsoft.com/office/drawing/2014/main" id="{648BAC29-9544-32CC-1381-A917C11814BD}"/>
              </a:ext>
            </a:extLst>
          </p:cNvPr>
          <p:cNvSpPr>
            <a:spLocks noGrp="1"/>
          </p:cNvSpPr>
          <p:nvPr>
            <p:ph idx="1"/>
          </p:nvPr>
        </p:nvSpPr>
        <p:spPr>
          <a:xfrm>
            <a:off x="0" y="629266"/>
            <a:ext cx="12191999" cy="5514860"/>
          </a:xfrm>
        </p:spPr>
        <p:txBody>
          <a:bodyPr>
            <a:normAutofit fontScale="85000" lnSpcReduction="10000"/>
          </a:bodyPr>
          <a:lstStyle/>
          <a:p>
            <a:pPr marL="0" indent="0">
              <a:buNone/>
            </a:pPr>
            <a:r>
              <a:rPr lang="en-US" dirty="0">
                <a:solidFill>
                  <a:schemeClr val="bg2">
                    <a:lumMod val="25000"/>
                  </a:schemeClr>
                </a:solidFill>
              </a:rPr>
              <a:t>Satellite monitoring has become increasingly important for understanding Earth’s environment and ensuring spacecraft health, but the data produced by modern satellites is complex and vast. Each satellite generates imagery that captures the Earth’s surface and atmosphere, as well as telemetry data that reflects its internal systems and operational status. Analyzing these two types of data together is challenging because they are fundamentally different: images require pattern recognition, while telemetry requires detection of trends and anomalies. Traditional machine learning approaches, like convolutional neural networks for images and support vector machines for numerical data, can handle these tasks separately, but integrating them effectively and exploring new methods for efficiency and accuracy remains an open problem.</a:t>
            </a:r>
          </a:p>
          <a:p>
            <a:pPr marL="0" indent="0">
              <a:buNone/>
            </a:pPr>
            <a:r>
              <a:rPr lang="en-US" dirty="0">
                <a:solidFill>
                  <a:schemeClr val="bg2">
                    <a:lumMod val="25000"/>
                  </a:schemeClr>
                </a:solidFill>
              </a:rPr>
              <a:t>This project seeks to build two satellite monitoring assistants, one quantum-inspired and one classical. The quantum-inspired assistant uses a Quantum Neural Network for imagery and a Quantum Support Vector Machine for telemetry, while the classical assistant uses a CNN for imagery and a classical SVM for telemetry. Both systems will be trained on real-world satellite datasets and evaluated on a combination of held-out data and a simulated satellite in orbit. The simulation will generate realistic imagery and telemetry streams, including controlled anomalies, providing a test environment to see how well the models generalize and detect unusual events.</a:t>
            </a:r>
          </a:p>
          <a:p>
            <a:pPr marL="0" indent="0">
              <a:buNone/>
            </a:pPr>
            <a:r>
              <a:rPr lang="en-US" dirty="0">
                <a:solidFill>
                  <a:schemeClr val="bg2">
                    <a:lumMod val="25000"/>
                  </a:schemeClr>
                </a:solidFill>
              </a:rPr>
              <a:t>By comparing the quantum-inspired assistant with its classical counterpart, the project will explore whether quantum models offer any advantage in accuracy, anomaly detection, and computational efficiency. The approach follows the same principle used in professional satellite monitoring systems, where imagery and telemetry are analyzed with separate models, but it adds a novel research dimension by incorporating quantum-inspired learning. The ultimate goal is to demonstrate a working, deployable monitoring framework that highlights the potential benefits of quantum algorithms while providing a solid baseline for classical performance.</a:t>
            </a:r>
          </a:p>
          <a:p>
            <a:pPr marL="0" indent="0">
              <a:buNone/>
            </a:pPr>
            <a:endParaRPr lang="en-US" dirty="0"/>
          </a:p>
        </p:txBody>
      </p:sp>
    </p:spTree>
    <p:extLst>
      <p:ext uri="{BB962C8B-B14F-4D97-AF65-F5344CB8AC3E}">
        <p14:creationId xmlns:p14="http://schemas.microsoft.com/office/powerpoint/2010/main" val="1878591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A6453-D339-ECF0-7000-1F5415F8E1E3}"/>
              </a:ext>
            </a:extLst>
          </p:cNvPr>
          <p:cNvSpPr>
            <a:spLocks noGrp="1"/>
          </p:cNvSpPr>
          <p:nvPr>
            <p:ph type="title"/>
          </p:nvPr>
        </p:nvSpPr>
        <p:spPr>
          <a:xfrm>
            <a:off x="0" y="1"/>
            <a:ext cx="12192000" cy="747252"/>
          </a:xfrm>
        </p:spPr>
        <p:txBody>
          <a:bodyPr/>
          <a:lstStyle/>
          <a:p>
            <a:pPr algn="ctr"/>
            <a:r>
              <a:rPr lang="en-US" b="1" dirty="0">
                <a:solidFill>
                  <a:schemeClr val="accent1">
                    <a:lumMod val="75000"/>
                  </a:schemeClr>
                </a:solidFill>
              </a:rPr>
              <a:t>METHODOLOGY</a:t>
            </a:r>
          </a:p>
        </p:txBody>
      </p:sp>
      <p:sp>
        <p:nvSpPr>
          <p:cNvPr id="3" name="Content Placeholder 2">
            <a:extLst>
              <a:ext uri="{FF2B5EF4-FFF2-40B4-BE49-F238E27FC236}">
                <a16:creationId xmlns:a16="http://schemas.microsoft.com/office/drawing/2014/main" id="{FBFDAF29-2914-67CD-4DB2-6CB0F7AD87C2}"/>
              </a:ext>
            </a:extLst>
          </p:cNvPr>
          <p:cNvSpPr>
            <a:spLocks noGrp="1"/>
          </p:cNvSpPr>
          <p:nvPr>
            <p:ph idx="1"/>
          </p:nvPr>
        </p:nvSpPr>
        <p:spPr>
          <a:xfrm>
            <a:off x="1" y="747253"/>
            <a:ext cx="12192000" cy="5397907"/>
          </a:xfrm>
        </p:spPr>
        <p:txBody>
          <a:bodyPr/>
          <a:lstStyle/>
          <a:p>
            <a:pPr marL="457200" indent="-457200">
              <a:buFont typeface="+mj-lt"/>
              <a:buAutoNum type="arabicPeriod" startAt="4"/>
            </a:pPr>
            <a:r>
              <a:rPr lang="en-US" b="1" dirty="0"/>
              <a:t>Model Training and Validation</a:t>
            </a:r>
            <a:br>
              <a:rPr lang="en-US" dirty="0"/>
            </a:br>
            <a:r>
              <a:rPr lang="en-US" dirty="0"/>
              <a:t>Each model will be trained separately on its respective dataset. Hyperparameter tuning, model checkpoints, and early stopping will be applied to achieve optimal performance. Validation results will be used to ensure that both quantum-inspired and classical models are evaluated under identical conditions for a fair comparison.</a:t>
            </a:r>
          </a:p>
          <a:p>
            <a:pPr marL="457200" indent="-457200">
              <a:buFont typeface="+mj-lt"/>
              <a:buAutoNum type="arabicPeriod" startAt="4"/>
            </a:pPr>
            <a:r>
              <a:rPr lang="en-US" b="1" dirty="0"/>
              <a:t>Model Exporting</a:t>
            </a:r>
            <a:br>
              <a:rPr lang="en-US" dirty="0"/>
            </a:br>
            <a:r>
              <a:rPr lang="en-US" dirty="0"/>
              <a:t>After training, all four models will be exported using joblib, allowing them to be loaded directly inside a deployed application without retraining. This ensures consistency and reproducibility during the testing phase.</a:t>
            </a:r>
          </a:p>
          <a:p>
            <a:pPr marL="457200" indent="-457200">
              <a:buFont typeface="+mj-lt"/>
              <a:buAutoNum type="arabicPeriod" startAt="4"/>
            </a:pPr>
            <a:r>
              <a:rPr lang="en-US" b="1" dirty="0"/>
              <a:t>Building the Monitoring Interfaces</a:t>
            </a:r>
            <a:br>
              <a:rPr lang="en-US" dirty="0"/>
            </a:br>
            <a:r>
              <a:rPr lang="en-US" dirty="0"/>
              <a:t>Two Streamlit web applications will be developed—one for the quantum-inspired assistant and one for the classical assistant. Each application will load its respective models and offer a user interface where imagery or telemetry data can be uploaded, processed, and classified. The dashboards will display predictions, anomaly labels, confidence scores, and relevant plots in real time.</a:t>
            </a:r>
          </a:p>
        </p:txBody>
      </p:sp>
    </p:spTree>
    <p:extLst>
      <p:ext uri="{BB962C8B-B14F-4D97-AF65-F5344CB8AC3E}">
        <p14:creationId xmlns:p14="http://schemas.microsoft.com/office/powerpoint/2010/main" val="3327235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EB727-2B4C-CE07-7037-024419511694}"/>
              </a:ext>
            </a:extLst>
          </p:cNvPr>
          <p:cNvSpPr>
            <a:spLocks noGrp="1"/>
          </p:cNvSpPr>
          <p:nvPr>
            <p:ph type="title"/>
          </p:nvPr>
        </p:nvSpPr>
        <p:spPr>
          <a:xfrm>
            <a:off x="0" y="1"/>
            <a:ext cx="12192000" cy="698090"/>
          </a:xfrm>
        </p:spPr>
        <p:txBody>
          <a:bodyPr/>
          <a:lstStyle/>
          <a:p>
            <a:pPr algn="ctr"/>
            <a:r>
              <a:rPr lang="en-US" b="1" dirty="0">
                <a:solidFill>
                  <a:schemeClr val="accent1">
                    <a:lumMod val="75000"/>
                  </a:schemeClr>
                </a:solidFill>
              </a:rPr>
              <a:t>METHODOLOGY</a:t>
            </a:r>
          </a:p>
        </p:txBody>
      </p:sp>
      <p:sp>
        <p:nvSpPr>
          <p:cNvPr id="3" name="Content Placeholder 2">
            <a:extLst>
              <a:ext uri="{FF2B5EF4-FFF2-40B4-BE49-F238E27FC236}">
                <a16:creationId xmlns:a16="http://schemas.microsoft.com/office/drawing/2014/main" id="{5FF34630-E7C0-E414-0AA3-18FA4E77D82A}"/>
              </a:ext>
            </a:extLst>
          </p:cNvPr>
          <p:cNvSpPr>
            <a:spLocks noGrp="1"/>
          </p:cNvSpPr>
          <p:nvPr>
            <p:ph idx="1"/>
          </p:nvPr>
        </p:nvSpPr>
        <p:spPr>
          <a:xfrm>
            <a:off x="0" y="698091"/>
            <a:ext cx="12191999" cy="5427405"/>
          </a:xfrm>
        </p:spPr>
        <p:txBody>
          <a:bodyPr>
            <a:normAutofit fontScale="92500" lnSpcReduction="10000"/>
          </a:bodyPr>
          <a:lstStyle/>
          <a:p>
            <a:pPr marL="457200" indent="-457200">
              <a:buFont typeface="+mj-lt"/>
              <a:buAutoNum type="arabicPeriod" startAt="7"/>
            </a:pPr>
            <a:r>
              <a:rPr lang="en-US" b="1" dirty="0"/>
              <a:t>Deployment of the Applications</a:t>
            </a:r>
            <a:br>
              <a:rPr lang="en-US" dirty="0"/>
            </a:br>
            <a:r>
              <a:rPr lang="en-US" dirty="0"/>
              <a:t>Both Streamlit-based monitoring assistants will be deployed using Streamlit Cloud. This makes them accessible online and capable of receiving external data streams, acting as real-time satellite monitoring interfaces.</a:t>
            </a:r>
          </a:p>
          <a:p>
            <a:pPr marL="457200" indent="-457200">
              <a:buFont typeface="+mj-lt"/>
              <a:buAutoNum type="arabicPeriod" startAt="8"/>
            </a:pPr>
            <a:r>
              <a:rPr lang="en-US" b="1" dirty="0"/>
              <a:t>Simulated Satellite Environment</a:t>
            </a:r>
            <a:br>
              <a:rPr lang="en-US" dirty="0"/>
            </a:br>
            <a:r>
              <a:rPr lang="en-US" dirty="0"/>
              <a:t>A Python-based simulation will be developed to generate realistic satellite imagery and telemetry streams:</a:t>
            </a:r>
          </a:p>
          <a:p>
            <a:pPr lvl="1"/>
            <a:r>
              <a:rPr lang="en-US" b="1" dirty="0"/>
              <a:t>Orbital Motion Simulation:</a:t>
            </a:r>
            <a:r>
              <a:rPr lang="en-US" dirty="0"/>
              <a:t> using </a:t>
            </a:r>
            <a:r>
              <a:rPr lang="en-US" i="1" dirty="0"/>
              <a:t>poliastro</a:t>
            </a:r>
            <a:r>
              <a:rPr lang="en-US" dirty="0"/>
              <a:t> and </a:t>
            </a:r>
            <a:r>
              <a:rPr lang="en-US" i="1" dirty="0"/>
              <a:t>skyfield</a:t>
            </a:r>
            <a:r>
              <a:rPr lang="en-US" dirty="0"/>
              <a:t> to propagate the satellite orbit, compute its position over time, and generate realistic ground tracks.</a:t>
            </a:r>
          </a:p>
          <a:p>
            <a:pPr lvl="1"/>
            <a:r>
              <a:rPr lang="en-US" b="1" dirty="0"/>
              <a:t>Telemetry Simulation:</a:t>
            </a:r>
            <a:r>
              <a:rPr lang="en-US" dirty="0"/>
              <a:t> using </a:t>
            </a:r>
            <a:r>
              <a:rPr lang="en-US" i="1" dirty="0"/>
              <a:t>NumPy</a:t>
            </a:r>
            <a:r>
              <a:rPr lang="en-US" dirty="0"/>
              <a:t>, </a:t>
            </a:r>
            <a:r>
              <a:rPr lang="en-US" i="1" dirty="0"/>
              <a:t>SciPy</a:t>
            </a:r>
            <a:r>
              <a:rPr lang="en-US" dirty="0"/>
              <a:t>, and </a:t>
            </a:r>
            <a:r>
              <a:rPr lang="en-US" i="1" dirty="0"/>
              <a:t>Pandas</a:t>
            </a:r>
            <a:r>
              <a:rPr lang="en-US" dirty="0"/>
              <a:t> to create numerical telemetry streams that mimic real spacecraft behaviour, including temperature, power, orientation, and communication metrics; anomalies such as thermal spikes or sensor drift will be injected for evaluation.</a:t>
            </a:r>
          </a:p>
          <a:p>
            <a:pPr lvl="1"/>
            <a:r>
              <a:rPr lang="en-US" b="1" dirty="0"/>
              <a:t>Imagery Simulation:</a:t>
            </a:r>
            <a:r>
              <a:rPr lang="en-US" dirty="0"/>
              <a:t> using </a:t>
            </a:r>
            <a:r>
              <a:rPr lang="en-US" i="1" dirty="0"/>
              <a:t>OpenCV</a:t>
            </a:r>
            <a:r>
              <a:rPr lang="en-US" dirty="0"/>
              <a:t>, </a:t>
            </a:r>
            <a:r>
              <a:rPr lang="en-US" i="1" dirty="0"/>
              <a:t>Pillow</a:t>
            </a:r>
            <a:r>
              <a:rPr lang="en-US" dirty="0"/>
              <a:t>, </a:t>
            </a:r>
            <a:r>
              <a:rPr lang="en-US" i="1" dirty="0"/>
              <a:t>Matplotlib</a:t>
            </a:r>
            <a:r>
              <a:rPr lang="en-US" dirty="0"/>
              <a:t>, </a:t>
            </a:r>
            <a:r>
              <a:rPr lang="en-US" i="1" dirty="0"/>
              <a:t>Cartopy</a:t>
            </a:r>
            <a:r>
              <a:rPr lang="en-US" dirty="0"/>
              <a:t>, and noise generators to create synthetic satellite images aligned with the satellite’s orbital position.</a:t>
            </a:r>
          </a:p>
          <a:p>
            <a:pPr lvl="1"/>
            <a:r>
              <a:rPr lang="en-US" b="1" dirty="0"/>
              <a:t>Integration Layer:</a:t>
            </a:r>
            <a:r>
              <a:rPr lang="en-US" dirty="0"/>
              <a:t> using </a:t>
            </a:r>
            <a:r>
              <a:rPr lang="en-US" i="1" dirty="0"/>
              <a:t>asyncio</a:t>
            </a:r>
            <a:r>
              <a:rPr lang="en-US" dirty="0"/>
              <a:t> or an optional </a:t>
            </a:r>
            <a:r>
              <a:rPr lang="en-US" i="1" dirty="0"/>
              <a:t>FastAPI</a:t>
            </a:r>
            <a:r>
              <a:rPr lang="en-US" dirty="0"/>
              <a:t> server to stream imagery and telemetry at fixed time intervals, emulating real on-orbit data transmission.</a:t>
            </a:r>
          </a:p>
          <a:p>
            <a:pPr marL="0" indent="0">
              <a:buNone/>
            </a:pPr>
            <a:r>
              <a:rPr lang="en-US" dirty="0"/>
              <a:t>      This simulation will provide both normal and anomalous scenarios for rigorous testing of the deployed models.</a:t>
            </a:r>
          </a:p>
          <a:p>
            <a:pPr marL="457200" indent="-457200">
              <a:buFont typeface="+mj-lt"/>
              <a:buAutoNum type="arabicPeriod" startAt="7"/>
            </a:pPr>
            <a:endParaRPr lang="en-US" dirty="0"/>
          </a:p>
        </p:txBody>
      </p:sp>
    </p:spTree>
    <p:extLst>
      <p:ext uri="{BB962C8B-B14F-4D97-AF65-F5344CB8AC3E}">
        <p14:creationId xmlns:p14="http://schemas.microsoft.com/office/powerpoint/2010/main" val="4037252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EA8AA-9C99-83C1-98DC-6C2A8EE85EA5}"/>
              </a:ext>
            </a:extLst>
          </p:cNvPr>
          <p:cNvSpPr>
            <a:spLocks noGrp="1"/>
          </p:cNvSpPr>
          <p:nvPr>
            <p:ph type="title"/>
          </p:nvPr>
        </p:nvSpPr>
        <p:spPr>
          <a:xfrm>
            <a:off x="0" y="1"/>
            <a:ext cx="12192000" cy="678426"/>
          </a:xfrm>
        </p:spPr>
        <p:txBody>
          <a:bodyPr/>
          <a:lstStyle/>
          <a:p>
            <a:pPr algn="ctr"/>
            <a:r>
              <a:rPr lang="en-US" b="1" dirty="0">
                <a:solidFill>
                  <a:schemeClr val="accent1">
                    <a:lumMod val="75000"/>
                  </a:schemeClr>
                </a:solidFill>
              </a:rPr>
              <a:t>METHODOLOGY</a:t>
            </a:r>
          </a:p>
        </p:txBody>
      </p:sp>
      <p:sp>
        <p:nvSpPr>
          <p:cNvPr id="3" name="Content Placeholder 2">
            <a:extLst>
              <a:ext uri="{FF2B5EF4-FFF2-40B4-BE49-F238E27FC236}">
                <a16:creationId xmlns:a16="http://schemas.microsoft.com/office/drawing/2014/main" id="{4670BB1B-6BF7-DC94-405E-64BE9F229533}"/>
              </a:ext>
            </a:extLst>
          </p:cNvPr>
          <p:cNvSpPr>
            <a:spLocks noGrp="1"/>
          </p:cNvSpPr>
          <p:nvPr>
            <p:ph idx="1"/>
          </p:nvPr>
        </p:nvSpPr>
        <p:spPr>
          <a:xfrm>
            <a:off x="0" y="678427"/>
            <a:ext cx="12191999" cy="5466733"/>
          </a:xfrm>
        </p:spPr>
        <p:txBody>
          <a:bodyPr/>
          <a:lstStyle/>
          <a:p>
            <a:pPr marL="457200" indent="-457200">
              <a:buFont typeface="+mj-lt"/>
              <a:buAutoNum type="arabicPeriod" startAt="9"/>
            </a:pPr>
            <a:r>
              <a:rPr lang="en-US" b="1" dirty="0"/>
              <a:t>System Testing and Evaluation</a:t>
            </a:r>
            <a:br>
              <a:rPr lang="en-US" dirty="0"/>
            </a:br>
            <a:r>
              <a:rPr lang="en-US" dirty="0"/>
              <a:t>The deployed quantum-inspired and classical monitoring assistants will be tested using (1) the held-out real-world datasets and (2) the simulated satellite data. Performance will be compared in terms of classification accuracy, anomaly detection capability, generalization to new conditions, robustness to noise, and operational responsiveness.</a:t>
            </a:r>
          </a:p>
          <a:p>
            <a:pPr marL="457200" indent="-457200">
              <a:buFont typeface="+mj-lt"/>
              <a:buAutoNum type="arabicPeriod" startAt="9"/>
            </a:pPr>
            <a:r>
              <a:rPr lang="en-US" b="1" dirty="0"/>
              <a:t>Final Analysis and Comparative Assessment</a:t>
            </a:r>
            <a:br>
              <a:rPr lang="en-US" dirty="0"/>
            </a:br>
            <a:r>
              <a:rPr lang="en-US" dirty="0"/>
              <a:t>A detailed comparative analysis will be conducted to determine whether quantum-inspired algorithms offer measurable advantages over classical models. Findings will be documented clearly to highlight strengths, limitations, and potential applications of quantum machine learning in satellite monitoring.</a:t>
            </a:r>
          </a:p>
        </p:txBody>
      </p:sp>
    </p:spTree>
    <p:extLst>
      <p:ext uri="{BB962C8B-B14F-4D97-AF65-F5344CB8AC3E}">
        <p14:creationId xmlns:p14="http://schemas.microsoft.com/office/powerpoint/2010/main" val="3693094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BD51E-727C-A8C9-6AB8-ACE1DD904AC3}"/>
              </a:ext>
            </a:extLst>
          </p:cNvPr>
          <p:cNvSpPr>
            <a:spLocks noGrp="1"/>
          </p:cNvSpPr>
          <p:nvPr>
            <p:ph type="title"/>
          </p:nvPr>
        </p:nvSpPr>
        <p:spPr>
          <a:xfrm>
            <a:off x="0" y="1"/>
            <a:ext cx="12192000" cy="599767"/>
          </a:xfrm>
        </p:spPr>
        <p:txBody>
          <a:bodyPr/>
          <a:lstStyle/>
          <a:p>
            <a:pPr algn="ctr"/>
            <a:r>
              <a:rPr lang="en-US" b="1" dirty="0">
                <a:solidFill>
                  <a:schemeClr val="accent1">
                    <a:lumMod val="75000"/>
                  </a:schemeClr>
                </a:solidFill>
              </a:rPr>
              <a:t>DATA SOURCES (IMAGERY)</a:t>
            </a:r>
          </a:p>
        </p:txBody>
      </p:sp>
      <p:sp>
        <p:nvSpPr>
          <p:cNvPr id="3" name="Content Placeholder 2">
            <a:extLst>
              <a:ext uri="{FF2B5EF4-FFF2-40B4-BE49-F238E27FC236}">
                <a16:creationId xmlns:a16="http://schemas.microsoft.com/office/drawing/2014/main" id="{E41C3F93-7271-EA80-404E-7C15670C8401}"/>
              </a:ext>
            </a:extLst>
          </p:cNvPr>
          <p:cNvSpPr>
            <a:spLocks noGrp="1"/>
          </p:cNvSpPr>
          <p:nvPr>
            <p:ph idx="1"/>
          </p:nvPr>
        </p:nvSpPr>
        <p:spPr>
          <a:xfrm>
            <a:off x="0" y="599768"/>
            <a:ext cx="12191999" cy="5525729"/>
          </a:xfrm>
        </p:spPr>
        <p:txBody>
          <a:bodyPr>
            <a:normAutofit fontScale="92500" lnSpcReduction="20000"/>
          </a:bodyPr>
          <a:lstStyle/>
          <a:p>
            <a:pPr marL="0" indent="0">
              <a:buNone/>
            </a:pPr>
            <a:r>
              <a:rPr lang="en-US" sz="2600" b="1" dirty="0"/>
              <a:t>Satellite Imagery Datasets (with links)</a:t>
            </a:r>
          </a:p>
          <a:p>
            <a:pPr marL="0" indent="0" algn="ctr">
              <a:buNone/>
            </a:pPr>
            <a:r>
              <a:rPr lang="en-US" b="1" dirty="0"/>
              <a:t>NASA Landsat (Free multispectral satellite imagery)</a:t>
            </a:r>
          </a:p>
          <a:p>
            <a:pPr marL="0" indent="0" algn="ctr">
              <a:buNone/>
            </a:pPr>
            <a:r>
              <a:rPr lang="en-US" dirty="0">
                <a:hlinkClick r:id="rId2"/>
              </a:rPr>
              <a:t>https://earthexplorer.usgs.gov/</a:t>
            </a:r>
            <a:endParaRPr lang="en-US" dirty="0"/>
          </a:p>
          <a:p>
            <a:pPr marL="0" indent="0" algn="ctr">
              <a:buNone/>
            </a:pPr>
            <a:r>
              <a:rPr lang="en-US" b="1" dirty="0"/>
              <a:t>ESA Sentinel-2 Imagery</a:t>
            </a:r>
          </a:p>
          <a:p>
            <a:pPr marL="0" indent="0" algn="ctr">
              <a:buNone/>
            </a:pPr>
            <a:r>
              <a:rPr lang="en-US" dirty="0">
                <a:hlinkClick r:id="rId3"/>
              </a:rPr>
              <a:t>https://scihub.copernicus.eu/</a:t>
            </a:r>
            <a:endParaRPr lang="en-US" dirty="0"/>
          </a:p>
          <a:p>
            <a:pPr marL="0" indent="0" algn="ctr">
              <a:buNone/>
            </a:pPr>
            <a:r>
              <a:rPr lang="en-US" b="1" dirty="0" err="1"/>
              <a:t>EuroSAT</a:t>
            </a:r>
            <a:r>
              <a:rPr lang="en-US" b="1" dirty="0"/>
              <a:t> (Labelled satellite images for ML)</a:t>
            </a:r>
          </a:p>
          <a:p>
            <a:pPr marL="0" indent="0" algn="ctr">
              <a:buNone/>
            </a:pPr>
            <a:r>
              <a:rPr lang="en-US" dirty="0">
                <a:hlinkClick r:id="rId4"/>
              </a:rPr>
              <a:t>https://zenodo.org/record/7711810</a:t>
            </a:r>
            <a:endParaRPr lang="en-US" dirty="0"/>
          </a:p>
          <a:p>
            <a:pPr marL="0" indent="0" algn="ctr">
              <a:buNone/>
            </a:pPr>
            <a:r>
              <a:rPr lang="en-US" b="1" dirty="0" err="1"/>
              <a:t>SpaceNet</a:t>
            </a:r>
            <a:r>
              <a:rPr lang="en-US" b="1" dirty="0"/>
              <a:t> Dataset (Roads, buildings, mapping)</a:t>
            </a:r>
          </a:p>
          <a:p>
            <a:pPr marL="0" indent="0" algn="ctr">
              <a:buNone/>
            </a:pPr>
            <a:r>
              <a:rPr lang="en-US" dirty="0">
                <a:hlinkClick r:id="rId5"/>
              </a:rPr>
              <a:t>https://spacenet.ai/datasets/</a:t>
            </a:r>
            <a:endParaRPr lang="en-US" dirty="0"/>
          </a:p>
          <a:p>
            <a:pPr marL="0" indent="0" algn="ctr">
              <a:buNone/>
            </a:pPr>
            <a:r>
              <a:rPr lang="en-US" b="1" dirty="0"/>
              <a:t>UC Merced Land Use Dataset (Labeled land-use images)</a:t>
            </a:r>
          </a:p>
          <a:p>
            <a:pPr marL="0" indent="0" algn="ctr">
              <a:buNone/>
            </a:pPr>
            <a:r>
              <a:rPr lang="en-US" dirty="0"/>
              <a:t>http://weegee.vision.ucmerced.edu/datasets/landuse.html</a:t>
            </a:r>
          </a:p>
          <a:p>
            <a:pPr marL="0" indent="0" algn="ctr">
              <a:buNone/>
            </a:pPr>
            <a:r>
              <a:rPr lang="en-US" b="1" dirty="0" err="1"/>
              <a:t>BigEarthNet</a:t>
            </a:r>
            <a:r>
              <a:rPr lang="en-US" b="1" dirty="0"/>
              <a:t> (Large annotated Sentinel image dataset)</a:t>
            </a:r>
          </a:p>
          <a:p>
            <a:pPr marL="0" indent="0" algn="ctr">
              <a:buNone/>
            </a:pPr>
            <a:r>
              <a:rPr lang="en-US" dirty="0">
                <a:hlinkClick r:id="rId6"/>
              </a:rPr>
              <a:t>https://bigearth.net/</a:t>
            </a:r>
            <a:endParaRPr lang="en-US" dirty="0"/>
          </a:p>
          <a:p>
            <a:pPr marL="0" indent="0">
              <a:buNone/>
            </a:pPr>
            <a:endParaRPr lang="en-US" dirty="0"/>
          </a:p>
        </p:txBody>
      </p:sp>
    </p:spTree>
    <p:extLst>
      <p:ext uri="{BB962C8B-B14F-4D97-AF65-F5344CB8AC3E}">
        <p14:creationId xmlns:p14="http://schemas.microsoft.com/office/powerpoint/2010/main" val="3025278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EF674-FD00-3776-63F2-54358EB1F465}"/>
              </a:ext>
            </a:extLst>
          </p:cNvPr>
          <p:cNvSpPr>
            <a:spLocks noGrp="1"/>
          </p:cNvSpPr>
          <p:nvPr>
            <p:ph type="title"/>
          </p:nvPr>
        </p:nvSpPr>
        <p:spPr>
          <a:xfrm>
            <a:off x="0" y="1"/>
            <a:ext cx="12192000" cy="619432"/>
          </a:xfrm>
        </p:spPr>
        <p:txBody>
          <a:bodyPr/>
          <a:lstStyle/>
          <a:p>
            <a:pPr algn="ctr"/>
            <a:r>
              <a:rPr lang="en-US" b="1" dirty="0">
                <a:solidFill>
                  <a:schemeClr val="accent1">
                    <a:lumMod val="75000"/>
                  </a:schemeClr>
                </a:solidFill>
              </a:rPr>
              <a:t>DATA SOURCCES (TELEMETRY)</a:t>
            </a:r>
          </a:p>
        </p:txBody>
      </p:sp>
      <p:sp>
        <p:nvSpPr>
          <p:cNvPr id="3" name="Content Placeholder 2">
            <a:extLst>
              <a:ext uri="{FF2B5EF4-FFF2-40B4-BE49-F238E27FC236}">
                <a16:creationId xmlns:a16="http://schemas.microsoft.com/office/drawing/2014/main" id="{E0EB10C1-A36C-9E7B-0FDF-514CDC77CF18}"/>
              </a:ext>
            </a:extLst>
          </p:cNvPr>
          <p:cNvSpPr>
            <a:spLocks noGrp="1"/>
          </p:cNvSpPr>
          <p:nvPr>
            <p:ph idx="1"/>
          </p:nvPr>
        </p:nvSpPr>
        <p:spPr>
          <a:xfrm>
            <a:off x="0" y="619433"/>
            <a:ext cx="12191999" cy="5496231"/>
          </a:xfrm>
        </p:spPr>
        <p:txBody>
          <a:bodyPr>
            <a:normAutofit fontScale="92500" lnSpcReduction="20000"/>
          </a:bodyPr>
          <a:lstStyle/>
          <a:p>
            <a:pPr marL="0" indent="0">
              <a:buNone/>
            </a:pPr>
            <a:r>
              <a:rPr lang="en-US" sz="2600" b="1" dirty="0"/>
              <a:t>Satellite Telemetry Datasets (with links)</a:t>
            </a:r>
          </a:p>
          <a:p>
            <a:pPr marL="0" indent="0" algn="ctr">
              <a:buNone/>
            </a:pPr>
            <a:r>
              <a:rPr lang="en-US" b="1" dirty="0"/>
              <a:t>ESA / TU Delft Satellite Telemetry Anomaly Dataset</a:t>
            </a:r>
          </a:p>
          <a:p>
            <a:pPr marL="0" indent="0" algn="ctr">
              <a:buNone/>
            </a:pPr>
            <a:r>
              <a:rPr lang="en-US" dirty="0"/>
              <a:t>https://kelvins.esa.int/satellite-telemetry-anomaly-detection/</a:t>
            </a:r>
          </a:p>
          <a:p>
            <a:pPr marL="0" indent="0" algn="ctr">
              <a:buNone/>
            </a:pPr>
            <a:r>
              <a:rPr lang="en-US" b="1" dirty="0"/>
              <a:t>NASA Telemetry / Spacecraft Datasets (Operational sensor readings)</a:t>
            </a:r>
          </a:p>
          <a:p>
            <a:pPr marL="0" indent="0" algn="ctr">
              <a:buNone/>
            </a:pPr>
            <a:r>
              <a:rPr lang="en-US" dirty="0">
                <a:hlinkClick r:id="rId2"/>
              </a:rPr>
              <a:t>https://c3.ndc.nasa.gov/dashlink/</a:t>
            </a:r>
            <a:endParaRPr lang="en-US" dirty="0"/>
          </a:p>
          <a:p>
            <a:pPr marL="0" indent="0" algn="ctr">
              <a:buNone/>
            </a:pPr>
            <a:r>
              <a:rPr lang="en-US" b="1" dirty="0" err="1"/>
              <a:t>SatNOGS</a:t>
            </a:r>
            <a:r>
              <a:rPr lang="en-US" b="1" dirty="0"/>
              <a:t> Open Telemetry Archive</a:t>
            </a:r>
          </a:p>
          <a:p>
            <a:pPr marL="0" indent="0" algn="ctr">
              <a:buNone/>
            </a:pPr>
            <a:r>
              <a:rPr lang="en-US" dirty="0">
                <a:hlinkClick r:id="rId3"/>
              </a:rPr>
              <a:t>https://db.satnogs.org/</a:t>
            </a:r>
            <a:endParaRPr lang="en-US" dirty="0"/>
          </a:p>
          <a:p>
            <a:pPr marL="0" indent="0" algn="ctr">
              <a:buNone/>
            </a:pPr>
            <a:r>
              <a:rPr lang="en-US" b="1" dirty="0"/>
              <a:t>Delfi-C3 CubeSat Telemetry (</a:t>
            </a:r>
            <a:r>
              <a:rPr lang="en-US" b="1" dirty="0" err="1"/>
              <a:t>TUDelft</a:t>
            </a:r>
            <a:r>
              <a:rPr lang="en-US" b="1" dirty="0"/>
              <a:t>)</a:t>
            </a:r>
          </a:p>
          <a:p>
            <a:pPr marL="0" indent="0" algn="ctr">
              <a:buNone/>
            </a:pPr>
            <a:r>
              <a:rPr lang="en-US" dirty="0"/>
              <a:t>https://delfispace.nl/delfi-c3/</a:t>
            </a:r>
          </a:p>
          <a:p>
            <a:pPr marL="0" indent="0" algn="ctr">
              <a:buNone/>
            </a:pPr>
            <a:r>
              <a:rPr lang="en-US" b="1" dirty="0"/>
              <a:t>NASA / </a:t>
            </a:r>
            <a:r>
              <a:rPr lang="en-US" b="1" dirty="0" err="1"/>
              <a:t>Numenta</a:t>
            </a:r>
            <a:r>
              <a:rPr lang="en-US" b="1" dirty="0"/>
              <a:t> Anomaly Benchmark (NAB) – telemetry-style time series</a:t>
            </a:r>
          </a:p>
          <a:p>
            <a:pPr marL="0" indent="0" algn="ctr">
              <a:buNone/>
            </a:pPr>
            <a:r>
              <a:rPr lang="en-US" dirty="0">
                <a:hlinkClick r:id="rId4"/>
              </a:rPr>
              <a:t>https://github.com/numenta/NAB</a:t>
            </a:r>
            <a:endParaRPr lang="en-US" dirty="0"/>
          </a:p>
          <a:p>
            <a:pPr marL="0" indent="0" algn="ctr">
              <a:buNone/>
            </a:pPr>
            <a:r>
              <a:rPr lang="en-US" b="1" dirty="0" err="1"/>
              <a:t>FireBird</a:t>
            </a:r>
            <a:r>
              <a:rPr lang="en-US" b="1" dirty="0"/>
              <a:t> CubeSat Telemetry (DLR)</a:t>
            </a:r>
          </a:p>
          <a:p>
            <a:pPr marL="0" indent="0" algn="ctr">
              <a:buNone/>
            </a:pPr>
            <a:r>
              <a:rPr lang="en-US" dirty="0"/>
              <a:t>https://www.dlr.de/eoc/en/desktopdefault.aspx/tabid-13614/</a:t>
            </a:r>
          </a:p>
          <a:p>
            <a:pPr marL="0" indent="0">
              <a:buNone/>
            </a:pPr>
            <a:endParaRPr lang="en-US" dirty="0"/>
          </a:p>
        </p:txBody>
      </p:sp>
    </p:spTree>
    <p:extLst>
      <p:ext uri="{BB962C8B-B14F-4D97-AF65-F5344CB8AC3E}">
        <p14:creationId xmlns:p14="http://schemas.microsoft.com/office/powerpoint/2010/main" val="2329150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8CB0F-9B4D-22C7-E3A5-35D98DF1A673}"/>
              </a:ext>
            </a:extLst>
          </p:cNvPr>
          <p:cNvSpPr>
            <a:spLocks noGrp="1"/>
          </p:cNvSpPr>
          <p:nvPr>
            <p:ph type="title"/>
          </p:nvPr>
        </p:nvSpPr>
        <p:spPr>
          <a:xfrm>
            <a:off x="0" y="1"/>
            <a:ext cx="12191999" cy="678426"/>
          </a:xfrm>
        </p:spPr>
        <p:txBody>
          <a:bodyPr/>
          <a:lstStyle/>
          <a:p>
            <a:pPr algn="ctr"/>
            <a:r>
              <a:rPr lang="en-US" b="1" dirty="0">
                <a:solidFill>
                  <a:schemeClr val="accent1">
                    <a:lumMod val="75000"/>
                  </a:schemeClr>
                </a:solidFill>
              </a:rPr>
              <a:t>OTHER SOURCES (OPTIONAL)</a:t>
            </a:r>
          </a:p>
        </p:txBody>
      </p:sp>
      <p:sp>
        <p:nvSpPr>
          <p:cNvPr id="3" name="Content Placeholder 2">
            <a:extLst>
              <a:ext uri="{FF2B5EF4-FFF2-40B4-BE49-F238E27FC236}">
                <a16:creationId xmlns:a16="http://schemas.microsoft.com/office/drawing/2014/main" id="{BA4F2799-0F16-B15D-01A1-2BD79447F27A}"/>
              </a:ext>
            </a:extLst>
          </p:cNvPr>
          <p:cNvSpPr>
            <a:spLocks noGrp="1"/>
          </p:cNvSpPr>
          <p:nvPr>
            <p:ph idx="1"/>
          </p:nvPr>
        </p:nvSpPr>
        <p:spPr>
          <a:xfrm>
            <a:off x="0" y="678427"/>
            <a:ext cx="12191999" cy="5456901"/>
          </a:xfrm>
        </p:spPr>
        <p:txBody>
          <a:bodyPr/>
          <a:lstStyle/>
          <a:p>
            <a:pPr marL="0" indent="0">
              <a:buNone/>
            </a:pPr>
            <a:r>
              <a:rPr lang="en-US" sz="3200" b="1" dirty="0"/>
              <a:t>Optional (Extra Useful) Datasets</a:t>
            </a:r>
          </a:p>
          <a:p>
            <a:pPr marL="0" indent="0" algn="ctr">
              <a:buNone/>
            </a:pPr>
            <a:r>
              <a:rPr lang="en-US" sz="2800" b="1" dirty="0"/>
              <a:t>Kaggle – Satellite &amp; Telemetry Datasets</a:t>
            </a:r>
          </a:p>
          <a:p>
            <a:pPr marL="0" indent="0" algn="ctr">
              <a:buNone/>
            </a:pPr>
            <a:r>
              <a:rPr lang="en-US" sz="2800" dirty="0">
                <a:hlinkClick r:id="rId2"/>
              </a:rPr>
              <a:t>https://www.kaggle.com/datasets</a:t>
            </a:r>
            <a:endParaRPr lang="en-US" sz="2800" dirty="0"/>
          </a:p>
          <a:p>
            <a:pPr marL="0" indent="0" algn="ctr">
              <a:buNone/>
            </a:pPr>
            <a:r>
              <a:rPr lang="en-US" sz="2800" b="1" dirty="0"/>
              <a:t>8. Radiant </a:t>
            </a:r>
            <a:r>
              <a:rPr lang="en-US" sz="2800" b="1" dirty="0" err="1"/>
              <a:t>MLHub</a:t>
            </a:r>
            <a:r>
              <a:rPr lang="en-US" sz="2800" b="1" dirty="0"/>
              <a:t> (Labeled satellite imagery for ML)</a:t>
            </a:r>
          </a:p>
          <a:p>
            <a:pPr marL="0" indent="0" algn="ctr">
              <a:buNone/>
            </a:pPr>
            <a:r>
              <a:rPr lang="en-US" sz="2800" dirty="0"/>
              <a:t>https://mlhub.earth/</a:t>
            </a:r>
          </a:p>
          <a:p>
            <a:pPr marL="0" indent="0">
              <a:buNone/>
            </a:pPr>
            <a:endParaRPr lang="en-US" dirty="0"/>
          </a:p>
        </p:txBody>
      </p:sp>
    </p:spTree>
    <p:extLst>
      <p:ext uri="{BB962C8B-B14F-4D97-AF65-F5344CB8AC3E}">
        <p14:creationId xmlns:p14="http://schemas.microsoft.com/office/powerpoint/2010/main" val="1703259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2A2C5-0164-0519-063F-CE315576A0DB}"/>
              </a:ext>
            </a:extLst>
          </p:cNvPr>
          <p:cNvSpPr>
            <a:spLocks noGrp="1"/>
          </p:cNvSpPr>
          <p:nvPr>
            <p:ph type="title"/>
          </p:nvPr>
        </p:nvSpPr>
        <p:spPr>
          <a:xfrm>
            <a:off x="0" y="0"/>
            <a:ext cx="12192000" cy="540774"/>
          </a:xfrm>
        </p:spPr>
        <p:txBody>
          <a:bodyPr/>
          <a:lstStyle/>
          <a:p>
            <a:pPr algn="ctr"/>
            <a:r>
              <a:rPr lang="en-US" b="1" dirty="0">
                <a:solidFill>
                  <a:schemeClr val="accent1">
                    <a:lumMod val="75000"/>
                  </a:schemeClr>
                </a:solidFill>
              </a:rPr>
              <a:t>PYTHON LIBRARIES TO BE USED IN THE PROJECT</a:t>
            </a:r>
          </a:p>
        </p:txBody>
      </p:sp>
      <p:sp>
        <p:nvSpPr>
          <p:cNvPr id="3" name="Content Placeholder 2">
            <a:extLst>
              <a:ext uri="{FF2B5EF4-FFF2-40B4-BE49-F238E27FC236}">
                <a16:creationId xmlns:a16="http://schemas.microsoft.com/office/drawing/2014/main" id="{14721553-3F85-B8D5-ABE3-DB01AD33E6B2}"/>
              </a:ext>
            </a:extLst>
          </p:cNvPr>
          <p:cNvSpPr>
            <a:spLocks noGrp="1"/>
          </p:cNvSpPr>
          <p:nvPr>
            <p:ph idx="1"/>
          </p:nvPr>
        </p:nvSpPr>
        <p:spPr>
          <a:xfrm>
            <a:off x="0" y="462116"/>
            <a:ext cx="12191999" cy="5673213"/>
          </a:xfrm>
        </p:spPr>
        <p:txBody>
          <a:bodyPr/>
          <a:lstStyle/>
          <a:p>
            <a:pPr marL="0" indent="0">
              <a:buNone/>
            </a:pPr>
            <a:r>
              <a:rPr lang="en-US" b="1" dirty="0"/>
              <a:t>Data Handling and Preprocessing</a:t>
            </a:r>
          </a:p>
          <a:p>
            <a:r>
              <a:rPr lang="en-US" b="1" dirty="0"/>
              <a:t>NumPy</a:t>
            </a:r>
            <a:r>
              <a:rPr lang="en-US" dirty="0"/>
              <a:t> – numerical operations, array manipulation, signal generation for telemetry simulation.</a:t>
            </a:r>
          </a:p>
          <a:p>
            <a:r>
              <a:rPr lang="en-US" b="1" dirty="0"/>
              <a:t>Pandas</a:t>
            </a:r>
            <a:r>
              <a:rPr lang="en-US" dirty="0"/>
              <a:t> – structured data handling for telemetry time series, CSV/JSON I/O, and preprocessing.</a:t>
            </a:r>
          </a:p>
          <a:p>
            <a:r>
              <a:rPr lang="en-US" b="1" dirty="0"/>
              <a:t>SciPy</a:t>
            </a:r>
            <a:r>
              <a:rPr lang="en-US" dirty="0"/>
              <a:t> – signal processing, smoothing telemetry data, adding controlled noise.</a:t>
            </a:r>
          </a:p>
          <a:p>
            <a:r>
              <a:rPr lang="en-US" b="1" dirty="0"/>
              <a:t>OpenCV (cv2)</a:t>
            </a:r>
            <a:r>
              <a:rPr lang="en-US" dirty="0"/>
              <a:t> – image preprocessing, resizing, normalization, noise addition for satellite imagery.</a:t>
            </a:r>
          </a:p>
          <a:p>
            <a:r>
              <a:rPr lang="en-US" b="1" dirty="0"/>
              <a:t>Pillow (PIL)</a:t>
            </a:r>
            <a:r>
              <a:rPr lang="en-US" dirty="0"/>
              <a:t> – image manipulation and augmentation.</a:t>
            </a:r>
          </a:p>
          <a:p>
            <a:pPr marL="0" indent="0">
              <a:buNone/>
            </a:pPr>
            <a:r>
              <a:rPr lang="en-US" b="1" dirty="0"/>
              <a:t>Machine Learning (Classical Models)</a:t>
            </a:r>
          </a:p>
          <a:p>
            <a:r>
              <a:rPr lang="en-US" b="1" dirty="0"/>
              <a:t>scikit-learn</a:t>
            </a:r>
            <a:r>
              <a:rPr lang="en-US" dirty="0"/>
              <a:t> – SVM for telemetry, standard preprocessing pipelines, evaluation metrics.</a:t>
            </a:r>
          </a:p>
          <a:p>
            <a:r>
              <a:rPr lang="en-US" b="1" dirty="0"/>
              <a:t>TensorFlow / Keras or PyTorch</a:t>
            </a:r>
            <a:r>
              <a:rPr lang="en-US" dirty="0"/>
              <a:t> – CNN implementation for satellite imagery.</a:t>
            </a:r>
          </a:p>
          <a:p>
            <a:r>
              <a:rPr lang="en-US" b="1" dirty="0"/>
              <a:t>joblib</a:t>
            </a:r>
            <a:r>
              <a:rPr lang="en-US" dirty="0"/>
              <a:t> – saving and loading trained models for deployment.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713960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47337-EDA7-9EBF-5068-82AE05360C8C}"/>
              </a:ext>
            </a:extLst>
          </p:cNvPr>
          <p:cNvSpPr>
            <a:spLocks noGrp="1"/>
          </p:cNvSpPr>
          <p:nvPr>
            <p:ph type="title"/>
          </p:nvPr>
        </p:nvSpPr>
        <p:spPr>
          <a:xfrm>
            <a:off x="0" y="0"/>
            <a:ext cx="12192000" cy="648929"/>
          </a:xfrm>
        </p:spPr>
        <p:txBody>
          <a:bodyPr/>
          <a:lstStyle/>
          <a:p>
            <a:pPr algn="ctr"/>
            <a:r>
              <a:rPr lang="en-US" b="1" dirty="0">
                <a:solidFill>
                  <a:schemeClr val="accent1">
                    <a:lumMod val="75000"/>
                  </a:schemeClr>
                </a:solidFill>
              </a:rPr>
              <a:t>PYTHON LIBRARIES TO BE USED IN THE PROJECT</a:t>
            </a:r>
          </a:p>
        </p:txBody>
      </p:sp>
      <p:sp>
        <p:nvSpPr>
          <p:cNvPr id="3" name="Content Placeholder 2">
            <a:extLst>
              <a:ext uri="{FF2B5EF4-FFF2-40B4-BE49-F238E27FC236}">
                <a16:creationId xmlns:a16="http://schemas.microsoft.com/office/drawing/2014/main" id="{46B43C7E-0225-3FEB-6243-302A42742E4C}"/>
              </a:ext>
            </a:extLst>
          </p:cNvPr>
          <p:cNvSpPr>
            <a:spLocks noGrp="1"/>
          </p:cNvSpPr>
          <p:nvPr>
            <p:ph idx="1"/>
          </p:nvPr>
        </p:nvSpPr>
        <p:spPr>
          <a:xfrm>
            <a:off x="0" y="501445"/>
            <a:ext cx="12191999" cy="5643715"/>
          </a:xfrm>
        </p:spPr>
        <p:txBody>
          <a:bodyPr>
            <a:normAutofit lnSpcReduction="10000"/>
          </a:bodyPr>
          <a:lstStyle/>
          <a:p>
            <a:pPr marL="0" indent="0">
              <a:buNone/>
            </a:pPr>
            <a:r>
              <a:rPr lang="en-US" b="1" dirty="0"/>
              <a:t>Quantum Machine Learning</a:t>
            </a:r>
          </a:p>
          <a:p>
            <a:r>
              <a:rPr lang="en-US" b="1" dirty="0"/>
              <a:t>PennyLane</a:t>
            </a:r>
            <a:r>
              <a:rPr lang="en-US" dirty="0"/>
              <a:t> – QNN and QSVM implementation, quantum circuit simulations.</a:t>
            </a:r>
          </a:p>
          <a:p>
            <a:r>
              <a:rPr lang="en-US" b="1" dirty="0" err="1"/>
              <a:t>Qiskit</a:t>
            </a:r>
            <a:r>
              <a:rPr lang="en-US" b="1" dirty="0"/>
              <a:t> Machine Learning</a:t>
            </a:r>
            <a:r>
              <a:rPr lang="en-US" dirty="0"/>
              <a:t> – alternate QNN/QSVM frameworks, quantum kernels for telemetry.</a:t>
            </a:r>
          </a:p>
          <a:p>
            <a:r>
              <a:rPr lang="en-US" b="1" dirty="0"/>
              <a:t>Cirq (optional)</a:t>
            </a:r>
            <a:r>
              <a:rPr lang="en-US" dirty="0"/>
              <a:t> – quantum circuit simulations if needed for custom QNN operations.</a:t>
            </a:r>
          </a:p>
          <a:p>
            <a:pPr marL="0" indent="0">
              <a:buNone/>
            </a:pPr>
            <a:r>
              <a:rPr lang="en-US" b="1" dirty="0"/>
              <a:t>Satellite Simulation</a:t>
            </a:r>
          </a:p>
          <a:p>
            <a:r>
              <a:rPr lang="en-US" b="1" dirty="0"/>
              <a:t>poliastro</a:t>
            </a:r>
            <a:r>
              <a:rPr lang="en-US" dirty="0"/>
              <a:t> – orbital propagation, satellite position and orbit tracking.</a:t>
            </a:r>
          </a:p>
          <a:p>
            <a:r>
              <a:rPr lang="en-US" b="1" dirty="0"/>
              <a:t>skyfield</a:t>
            </a:r>
            <a:r>
              <a:rPr lang="en-US" dirty="0"/>
              <a:t> – precise Earth-satellite position calculations, ground track visualization.</a:t>
            </a:r>
          </a:p>
          <a:p>
            <a:r>
              <a:rPr lang="en-US" b="1" dirty="0"/>
              <a:t>Matplotlib / Cartopy / Basemap</a:t>
            </a:r>
            <a:r>
              <a:rPr lang="en-US" dirty="0"/>
              <a:t> – plotting satellite orbits, generating synthetic Earth imagery.</a:t>
            </a:r>
          </a:p>
          <a:p>
            <a:r>
              <a:rPr lang="en-US" b="1" dirty="0"/>
              <a:t>Perlin-noise / noise libraries</a:t>
            </a:r>
            <a:r>
              <a:rPr lang="en-US" dirty="0"/>
              <a:t> – adding procedural noise to simulated images (clouds, terrain variation).</a:t>
            </a:r>
          </a:p>
          <a:p>
            <a:r>
              <a:rPr lang="en-US" b="1" dirty="0"/>
              <a:t>SimPy </a:t>
            </a:r>
            <a:r>
              <a:rPr lang="en-US" dirty="0"/>
              <a:t> – event-driven simulation, e.g., anomaly injections in telemetry.</a:t>
            </a:r>
          </a:p>
          <a:p>
            <a:r>
              <a:rPr lang="en-US" b="1" dirty="0"/>
              <a:t>asyncio</a:t>
            </a:r>
            <a:r>
              <a:rPr lang="en-US" dirty="0"/>
              <a:t> – asynchronous data streaming from simulated satellite to monitoring apps.</a:t>
            </a:r>
          </a:p>
          <a:p>
            <a:r>
              <a:rPr lang="en-US" b="1" dirty="0"/>
              <a:t>FastAPI</a:t>
            </a:r>
            <a:r>
              <a:rPr lang="en-US" dirty="0"/>
              <a:t> – optional API server to stream simulated satellite data.</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297391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F90DF-CF5E-9B71-A7EC-8D25AC66BF00}"/>
              </a:ext>
            </a:extLst>
          </p:cNvPr>
          <p:cNvSpPr>
            <a:spLocks noGrp="1"/>
          </p:cNvSpPr>
          <p:nvPr>
            <p:ph type="title"/>
          </p:nvPr>
        </p:nvSpPr>
        <p:spPr>
          <a:xfrm>
            <a:off x="0" y="0"/>
            <a:ext cx="12192000" cy="648929"/>
          </a:xfrm>
        </p:spPr>
        <p:txBody>
          <a:bodyPr/>
          <a:lstStyle/>
          <a:p>
            <a:pPr algn="ctr"/>
            <a:r>
              <a:rPr lang="en-US" b="1" dirty="0">
                <a:solidFill>
                  <a:schemeClr val="accent1">
                    <a:lumMod val="75000"/>
                  </a:schemeClr>
                </a:solidFill>
              </a:rPr>
              <a:t>PYTHON LIBRARIES TO BE USED IN THE PROJECT</a:t>
            </a:r>
          </a:p>
        </p:txBody>
      </p:sp>
      <p:sp>
        <p:nvSpPr>
          <p:cNvPr id="3" name="Content Placeholder 2">
            <a:extLst>
              <a:ext uri="{FF2B5EF4-FFF2-40B4-BE49-F238E27FC236}">
                <a16:creationId xmlns:a16="http://schemas.microsoft.com/office/drawing/2014/main" id="{CB7992A2-9BB2-13E3-6126-04C4EBC46BDD}"/>
              </a:ext>
            </a:extLst>
          </p:cNvPr>
          <p:cNvSpPr>
            <a:spLocks noGrp="1"/>
          </p:cNvSpPr>
          <p:nvPr>
            <p:ph idx="1"/>
          </p:nvPr>
        </p:nvSpPr>
        <p:spPr>
          <a:xfrm>
            <a:off x="0" y="825910"/>
            <a:ext cx="12191999" cy="5279922"/>
          </a:xfrm>
        </p:spPr>
        <p:txBody>
          <a:bodyPr/>
          <a:lstStyle/>
          <a:p>
            <a:pPr marL="0" indent="0">
              <a:buNone/>
            </a:pPr>
            <a:r>
              <a:rPr lang="en-US" b="1" dirty="0"/>
              <a:t>Deployment / User Interface</a:t>
            </a:r>
          </a:p>
          <a:p>
            <a:r>
              <a:rPr lang="en-US" b="1" dirty="0"/>
              <a:t>Streamlit</a:t>
            </a:r>
            <a:r>
              <a:rPr lang="en-US" dirty="0"/>
              <a:t> – building interactive dashboards for the quantum-inspired and classical assistants.</a:t>
            </a:r>
          </a:p>
          <a:p>
            <a:r>
              <a:rPr lang="en-US" b="1" dirty="0"/>
              <a:t>joblib</a:t>
            </a:r>
            <a:r>
              <a:rPr lang="en-US" dirty="0"/>
              <a:t> – loading trained models in Streamlit apps for real-time predictions.</a:t>
            </a:r>
          </a:p>
          <a:p>
            <a:r>
              <a:rPr lang="en-US" b="1" dirty="0"/>
              <a:t>WebSockets</a:t>
            </a:r>
            <a:r>
              <a:rPr lang="en-US" dirty="0"/>
              <a:t> – streaming simulated data to Streamlit apps in real-time.</a:t>
            </a:r>
          </a:p>
          <a:p>
            <a:pPr marL="0" indent="0">
              <a:buNone/>
            </a:pPr>
            <a:r>
              <a:rPr lang="en-US" b="1" dirty="0"/>
              <a:t>Visualization</a:t>
            </a:r>
          </a:p>
          <a:p>
            <a:r>
              <a:rPr lang="en-US" b="1" dirty="0"/>
              <a:t>Matplotlib / Seaborn</a:t>
            </a:r>
            <a:r>
              <a:rPr lang="en-US" dirty="0"/>
              <a:t> – plotting telemetry signals, anomalies, model outputs, and performance metrics.</a:t>
            </a:r>
          </a:p>
          <a:p>
            <a:r>
              <a:rPr lang="en-US" b="1" dirty="0"/>
              <a:t>Plotly</a:t>
            </a:r>
            <a:r>
              <a:rPr lang="en-US" dirty="0"/>
              <a:t> – interactive plots for dashboards.</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0887269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A829D-859F-A6B1-7E7B-27A8DA8E2435}"/>
              </a:ext>
            </a:extLst>
          </p:cNvPr>
          <p:cNvSpPr>
            <a:spLocks noGrp="1"/>
          </p:cNvSpPr>
          <p:nvPr>
            <p:ph type="title"/>
          </p:nvPr>
        </p:nvSpPr>
        <p:spPr/>
        <p:txBody>
          <a:bodyPr>
            <a:normAutofit/>
          </a:bodyPr>
          <a:lstStyle/>
          <a:p>
            <a:pPr algn="ctr"/>
            <a:r>
              <a:rPr lang="en-US" sz="4000" b="1" dirty="0">
                <a:solidFill>
                  <a:schemeClr val="accent1">
                    <a:lumMod val="75000"/>
                  </a:schemeClr>
                </a:solidFill>
              </a:rPr>
              <a:t>AIM OF THE PROJECT</a:t>
            </a:r>
          </a:p>
        </p:txBody>
      </p:sp>
      <p:sp>
        <p:nvSpPr>
          <p:cNvPr id="3" name="Content Placeholder 2">
            <a:extLst>
              <a:ext uri="{FF2B5EF4-FFF2-40B4-BE49-F238E27FC236}">
                <a16:creationId xmlns:a16="http://schemas.microsoft.com/office/drawing/2014/main" id="{336A0464-DEE4-B153-D431-0B598735CE3B}"/>
              </a:ext>
            </a:extLst>
          </p:cNvPr>
          <p:cNvSpPr>
            <a:spLocks noGrp="1"/>
          </p:cNvSpPr>
          <p:nvPr>
            <p:ph idx="1"/>
          </p:nvPr>
        </p:nvSpPr>
        <p:spPr/>
        <p:txBody>
          <a:bodyPr/>
          <a:lstStyle/>
          <a:p>
            <a:pPr marL="0" indent="0">
              <a:buNone/>
            </a:pPr>
            <a:r>
              <a:rPr lang="en-US" b="1" dirty="0"/>
              <a:t>The aim of this project is to design, develop, and evaluate a quantum-inspired and classical satellite monitoring assistant capable of analyzing both satellite imagery and telemetry data. By building and comparing a Quantum Neural Network (QNN) and a Quantum Support Vector Machine (QSVM) with their classical counterparts—Convolutional Neural Network (CNN) and classical SVM—the project seeks to investigate the potential advantages of quantum-inspired algorithms over classical machine learning approaches in detecting anomalies, recognizing patterns, and enhancing operational monitoring of satellites.</a:t>
            </a:r>
          </a:p>
        </p:txBody>
      </p:sp>
    </p:spTree>
    <p:extLst>
      <p:ext uri="{BB962C8B-B14F-4D97-AF65-F5344CB8AC3E}">
        <p14:creationId xmlns:p14="http://schemas.microsoft.com/office/powerpoint/2010/main" val="1247881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2B69B-726B-809A-21DC-72862BC45AF0}"/>
              </a:ext>
            </a:extLst>
          </p:cNvPr>
          <p:cNvSpPr>
            <a:spLocks noGrp="1"/>
          </p:cNvSpPr>
          <p:nvPr>
            <p:ph type="title"/>
          </p:nvPr>
        </p:nvSpPr>
        <p:spPr>
          <a:xfrm>
            <a:off x="0" y="0"/>
            <a:ext cx="12192000" cy="589935"/>
          </a:xfrm>
        </p:spPr>
        <p:txBody>
          <a:bodyPr/>
          <a:lstStyle/>
          <a:p>
            <a:pPr algn="ctr"/>
            <a:r>
              <a:rPr lang="en-US" b="1" dirty="0">
                <a:solidFill>
                  <a:schemeClr val="accent1">
                    <a:lumMod val="75000"/>
                  </a:schemeClr>
                </a:solidFill>
              </a:rPr>
              <a:t>OBJECTIVES OF THE PROJECT</a:t>
            </a:r>
          </a:p>
        </p:txBody>
      </p:sp>
      <p:sp>
        <p:nvSpPr>
          <p:cNvPr id="3" name="Content Placeholder 2">
            <a:extLst>
              <a:ext uri="{FF2B5EF4-FFF2-40B4-BE49-F238E27FC236}">
                <a16:creationId xmlns:a16="http://schemas.microsoft.com/office/drawing/2014/main" id="{C7F1A431-1B24-F802-64ED-8C7E1808C81E}"/>
              </a:ext>
            </a:extLst>
          </p:cNvPr>
          <p:cNvSpPr>
            <a:spLocks noGrp="1"/>
          </p:cNvSpPr>
          <p:nvPr>
            <p:ph idx="1"/>
          </p:nvPr>
        </p:nvSpPr>
        <p:spPr>
          <a:xfrm>
            <a:off x="0" y="589935"/>
            <a:ext cx="12191999" cy="5692878"/>
          </a:xfrm>
        </p:spPr>
        <p:txBody>
          <a:bodyPr>
            <a:normAutofit lnSpcReduction="10000"/>
          </a:bodyPr>
          <a:lstStyle/>
          <a:p>
            <a:pPr marL="457200" indent="-457200">
              <a:buFont typeface="+mj-lt"/>
              <a:buAutoNum type="arabicPeriod"/>
            </a:pPr>
            <a:r>
              <a:rPr lang="en-US" dirty="0"/>
              <a:t>To collect and preprocess real-world satellite imagery and telemetry datasets, ensuring they are suitable for training both quantum-inspired and classical models.</a:t>
            </a:r>
          </a:p>
          <a:p>
            <a:pPr marL="457200" indent="-457200">
              <a:buFont typeface="+mj-lt"/>
              <a:buAutoNum type="arabicPeriod"/>
            </a:pPr>
            <a:r>
              <a:rPr lang="en-US" dirty="0"/>
              <a:t>To develop and train a Quantum Neural Network (QNN) for satellite imagery classification and a Quantum Support Vector Machine (QSVM) for telemetry anomaly detection.</a:t>
            </a:r>
          </a:p>
          <a:p>
            <a:pPr marL="457200" indent="-457200">
              <a:buFont typeface="+mj-lt"/>
              <a:buAutoNum type="arabicPeriod"/>
            </a:pPr>
            <a:r>
              <a:rPr lang="en-US" dirty="0"/>
              <a:t>To develop and train classical models—a Convolutional Neural Network (CNN) for imagery and a classical Support Vector Machine (SVM) for telemetry—as a benchmark for comparison.</a:t>
            </a:r>
          </a:p>
          <a:p>
            <a:pPr marL="457200" indent="-457200">
              <a:buFont typeface="+mj-lt"/>
              <a:buAutoNum type="arabicPeriod"/>
            </a:pPr>
            <a:r>
              <a:rPr lang="en-US" dirty="0"/>
              <a:t>To simulate a satellite in orbit generating controlled streams of imagery and telemetry data, including both normal operations and induced anomalies, to test the monitoring systems under realistic conditions.</a:t>
            </a:r>
          </a:p>
          <a:p>
            <a:pPr marL="457200" indent="-457200">
              <a:buFont typeface="+mj-lt"/>
              <a:buAutoNum type="arabicPeriod"/>
            </a:pPr>
            <a:r>
              <a:rPr lang="en-US" dirty="0"/>
              <a:t>To export the trained models and integrate them into interactive Streamlit-based web applications for real-time data processing, visualization, and anomaly detection.</a:t>
            </a:r>
          </a:p>
          <a:p>
            <a:pPr marL="457200" indent="-457200">
              <a:buFont typeface="+mj-lt"/>
              <a:buAutoNum type="arabicPeriod"/>
            </a:pPr>
            <a:r>
              <a:rPr lang="en-US" dirty="0"/>
              <a:t>To evaluate and compare the performance of quantum-inspired and classical monitoring assistants, assessing their accuracy, robustness, response to anomalies, and operational efficiency.</a:t>
            </a:r>
          </a:p>
          <a:p>
            <a:pPr marL="457200" indent="-457200">
              <a:buFont typeface="+mj-lt"/>
              <a:buAutoNum type="arabicPeriod"/>
            </a:pPr>
            <a:r>
              <a:rPr lang="en-US" dirty="0"/>
              <a:t>To demonstrate the practical deployment of quantum-inspired satellite monitoring tools, providing insights into the feasibility of applying quantum machine learning techniques for real-world satellite operational monitoring.</a:t>
            </a:r>
          </a:p>
        </p:txBody>
      </p:sp>
    </p:spTree>
    <p:extLst>
      <p:ext uri="{BB962C8B-B14F-4D97-AF65-F5344CB8AC3E}">
        <p14:creationId xmlns:p14="http://schemas.microsoft.com/office/powerpoint/2010/main" val="432573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167C4-2502-9FE3-5F00-8E6099AA70EF}"/>
              </a:ext>
            </a:extLst>
          </p:cNvPr>
          <p:cNvSpPr>
            <a:spLocks noGrp="1"/>
          </p:cNvSpPr>
          <p:nvPr>
            <p:ph type="title"/>
          </p:nvPr>
        </p:nvSpPr>
        <p:spPr>
          <a:xfrm>
            <a:off x="324466" y="1002890"/>
            <a:ext cx="11346424" cy="727587"/>
          </a:xfrm>
        </p:spPr>
        <p:txBody>
          <a:bodyPr/>
          <a:lstStyle/>
          <a:p>
            <a:pPr algn="ctr"/>
            <a:r>
              <a:rPr lang="en-US" b="1" dirty="0">
                <a:solidFill>
                  <a:schemeClr val="accent1">
                    <a:lumMod val="75000"/>
                  </a:schemeClr>
                </a:solidFill>
              </a:rPr>
              <a:t>CONCLUSION</a:t>
            </a:r>
          </a:p>
        </p:txBody>
      </p:sp>
      <p:sp>
        <p:nvSpPr>
          <p:cNvPr id="3" name="Content Placeholder 2">
            <a:extLst>
              <a:ext uri="{FF2B5EF4-FFF2-40B4-BE49-F238E27FC236}">
                <a16:creationId xmlns:a16="http://schemas.microsoft.com/office/drawing/2014/main" id="{0A802DF7-172D-4E6D-8948-F8D09925FE91}"/>
              </a:ext>
            </a:extLst>
          </p:cNvPr>
          <p:cNvSpPr>
            <a:spLocks noGrp="1"/>
          </p:cNvSpPr>
          <p:nvPr>
            <p:ph idx="1"/>
          </p:nvPr>
        </p:nvSpPr>
        <p:spPr>
          <a:xfrm>
            <a:off x="324466" y="1838631"/>
            <a:ext cx="11533238" cy="4277033"/>
          </a:xfrm>
        </p:spPr>
        <p:txBody>
          <a:bodyPr>
            <a:normAutofit fontScale="92500" lnSpcReduction="10000"/>
          </a:bodyPr>
          <a:lstStyle/>
          <a:p>
            <a:pPr marL="0" indent="0">
              <a:buNone/>
            </a:pPr>
            <a:r>
              <a:rPr lang="en-US" dirty="0"/>
              <a:t>This project proposes the development of a quantum-inspired and classical satellite monitoring assistant capable of analyzing both satellite imagery and telemetry data for enhanced pattern recognition and anomaly detection. Leveraging my background in ionospheric physics, the study will explore how quantum machine learning techniques, specifically a Quantum Neural Network (QNN) and a Quantum Support Vector Machine (QSVM), compare with classical approaches—CNN and SVM—in processing and interpreting satellite data. By integrating real-world datasets, simulated satellite environments, and interactive Streamlit-based dashboards, this work aims to produce a functional monitoring system while rigorously evaluating model performance and robustness.</a:t>
            </a:r>
          </a:p>
          <a:p>
            <a:pPr marL="0" indent="0">
              <a:buNone/>
            </a:pPr>
            <a:r>
              <a:rPr lang="en-US" dirty="0"/>
              <a:t>The project is expected to be completed by the end of the year, providing a timely contribution to the rapidly evolving field at the intersection of quantum computing, space physics, and aerospace engineering. Given the critical role of satellites in communications, Earth observation, and space operations, the outcomes of this research will not only advance scientific understanding but also demonstrate the practical potential of quantum-inspired algorithms for operational satellite monitoring, making it a valuable contribution to both research and applied space technology.</a:t>
            </a:r>
          </a:p>
          <a:p>
            <a:pPr marL="0" indent="0">
              <a:buNone/>
            </a:pPr>
            <a:endParaRPr lang="en-US" dirty="0"/>
          </a:p>
        </p:txBody>
      </p:sp>
    </p:spTree>
    <p:extLst>
      <p:ext uri="{BB962C8B-B14F-4D97-AF65-F5344CB8AC3E}">
        <p14:creationId xmlns:p14="http://schemas.microsoft.com/office/powerpoint/2010/main" val="254588211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475</TotalTime>
  <Words>2141</Words>
  <Application>Microsoft Office PowerPoint</Application>
  <PresentationFormat>Widescreen</PresentationFormat>
  <Paragraphs>108</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Gill Sans MT</vt:lpstr>
      <vt:lpstr>Gallery</vt:lpstr>
      <vt:lpstr>BUILDING A SATELLITTE MONITORING ASSISTANT</vt:lpstr>
      <vt:lpstr>METHODOLOGY</vt:lpstr>
      <vt:lpstr>PROJECT OVERVIEW</vt:lpstr>
      <vt:lpstr>METHODOLOGY</vt:lpstr>
      <vt:lpstr>METHODOLOGY</vt:lpstr>
      <vt:lpstr>METHODOLOGY</vt:lpstr>
      <vt:lpstr>DATA SOURCES (IMAGERY)</vt:lpstr>
      <vt:lpstr>DATA SOURCCES (TELEMETRY)</vt:lpstr>
      <vt:lpstr>OTHER SOURCES (OPTIONAL)</vt:lpstr>
      <vt:lpstr>PYTHON LIBRARIES TO BE USED IN THE PROJECT</vt:lpstr>
      <vt:lpstr>PYTHON LIBRARIES TO BE USED IN THE PROJECT</vt:lpstr>
      <vt:lpstr>PYTHON LIBRARIES TO BE USED IN THE PROJECT</vt:lpstr>
      <vt:lpstr>AIM OF THE PROJECT</vt:lpstr>
      <vt:lpstr>OBJECTIVES OF THE PROJECT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1</cp:revision>
  <dcterms:created xsi:type="dcterms:W3CDTF">2025-11-20T23:05:23Z</dcterms:created>
  <dcterms:modified xsi:type="dcterms:W3CDTF">2025-11-21T07:00:24Z</dcterms:modified>
</cp:coreProperties>
</file>